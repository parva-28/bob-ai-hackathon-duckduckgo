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48576931e6a3468f" /><Relationship Type="http://schemas.openxmlformats.org/package/2006/relationships/metadata/core-properties" Target="/docProps/core.xml" Id="R9ebe719fab864e2d" /><Relationship Type="http://schemas.openxmlformats.org/officeDocument/2006/relationships/extended-properties" Target="/docProps/app.xml" Id="Rf79f1e0bbd5843cb" /><Relationship Type="http://schemas.openxmlformats.org/officeDocument/2006/relationships/custom-properties" Target="/docProps/custom.xml" Id="R39e2297d3736489b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0f9e8dc729104323"/>
  </p:notesMasterIdLst>
  <p:sldIdLst>
    <p:sldId id="256" r:id="R573536ad0d544097"/>
    <p:sldId id="257" r:id="Re058fbcfe180404c"/>
    <p:sldId id="258" r:id="R87a14b3277194813"/>
    <p:sldId id="259" r:id="Rf2b98268d1064444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573536ad0d544097" /><Relationship Type="http://schemas.openxmlformats.org/officeDocument/2006/relationships/notesMaster" Target="/ppt/notesMasters/notesMaster1.xml" Id="R0f9e8dc729104323" /><Relationship Type="http://schemas.openxmlformats.org/officeDocument/2006/relationships/slide" Target="/ppt/slides/slide2.xml" Id="Re058fbcfe180404c" /><Relationship Type="http://schemas.openxmlformats.org/officeDocument/2006/relationships/slide" Target="/ppt/slides/slide3.xml" Id="R87a14b3277194813" /><Relationship Type="http://schemas.openxmlformats.org/officeDocument/2006/relationships/slide" Target="/ppt/slides/slide4.xml" Id="Rf2b98268d10644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1e90fd4b83d4587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a7bd7060c3242ae" /><Relationship Type="http://schemas.openxmlformats.org/officeDocument/2006/relationships/slide" Target="/ppt/slides/slide1.xml" Id="R5c5e646bab4549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69363bc0f224e77" /><Relationship Type="http://schemas.openxmlformats.org/officeDocument/2006/relationships/slide" Target="/ppt/slides/slide2.xml" Id="R409bbc11e9e54f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0d6eb29c99147d5" /><Relationship Type="http://schemas.openxmlformats.org/officeDocument/2006/relationships/slide" Target="/ppt/slides/slide3.xml" Id="R100fe641b2e747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4f2395c09f5450a" /><Relationship Type="http://schemas.openxmlformats.org/officeDocument/2006/relationships/slide" Target="/ppt/slides/slide4.xml" Id="R1c18ece212984f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1 — Team Intro. Team DuckDuckGo from CHARUSAT. YieldGuard is our entry for the IBM Hackathon AI Track. Quick intro to each member then move on.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2 — Problem and Solution. Left side: the painful manual status quo — siloed data, days to find the cause. Right side: YieldGuard's 4-input funnel collapsing into an evidence-grounded ranked hypothesis in minutes.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3 — Architecture. Two entry points: IBM Bob over natural language, Next.js HMI console. Both route through the same 14-tool MCP server. Four evidence tools feed rank_root_causes (Gemini + Granite fallback). Playbook dispatched from the top hypothesis. Cognitive forcing step records engineer's own read before the model ranking appears.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4 — Demo handoff. Walk through the 6-step demo flow. Highlight Case 6c as the differentiation moment: system refuses to confidently declare a process excursion when the only anomaly signal is on the test equipment channel. That honest uncertainty is the whole point.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371b39214e4db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3861eb2b164a6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15508c35cc4a2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6a96d353e4463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14e8fc48424ee8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0bb312f4162644ab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a0561b758749a2" /><Relationship Type="http://schemas.openxmlformats.org/officeDocument/2006/relationships/notesSlide" Target="/ppt/notesSlides/notesSlide1.xml" Id="Rb496ee7bfc304a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e9dd6041ed4e2d" /><Relationship Type="http://schemas.openxmlformats.org/officeDocument/2006/relationships/notesSlide" Target="/ppt/notesSlides/notesSlide2.xml" Id="Rf9c873fd7de741a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c5b235ebb54a11" /><Relationship Type="http://schemas.openxmlformats.org/officeDocument/2006/relationships/notesSlide" Target="/ppt/notesSlides/notesSlide3.xml" Id="R5bc8cac75d974c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1c06bfd4c54379" /><Relationship Type="http://schemas.openxmlformats.org/officeDocument/2006/relationships/notesSlide" Target="/ppt/notesSlides/notesSlide4.xml" Id="R5884bce011e14b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0F1A"/>
        </a:solidFill>
      </p:bgPr>
    </p:bg>
    <p:spTree>
      <p:nvGrpSpPr>
        <p:cNvPr id="1" name=""/>
        <p:cNvGrpSpPr/>
        <p:nvPr/>
      </p:nvGrpSpPr>
      <p:grpSpPr/>
      <p:sp>
        <p:nvSpPr>
          <p:cNvPr id="100000" name="accent_bar"/>
          <p:cNvSpPr txBox="1"/>
          <p:nvPr/>
        </p:nvSpPr>
        <p:spPr>
          <a:xfrm xmlns:a="http://schemas.openxmlformats.org/drawingml/2006/main">
            <a:off x="0" y="0"/>
            <a:ext cx="12193200" cy="12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2B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600">
              <a:solidFill>
                <a:srgbClr val="00D2B4"/>
              </a:solidFill>
            </a:endParaRPr>
          </a:p>
        </p:txBody>
      </p:sp>
      <p:sp>
        <p:nvSpPr>
          <p:cNvPr id="100001" name="TeamLabel"/>
          <p:cNvSpPr txBox="1"/>
          <p:nvPr/>
        </p:nvSpPr>
        <p:spPr>
          <a:xfrm xmlns:a="http://schemas.openxmlformats.org/drawingml/2006/main">
            <a:off x="576000" y="360000"/>
            <a:ext cx="1080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00D2B4"/>
                </a:solidFill>
              </a:rPr>
              <a:t>TEAM  ·  DUCKDUCKGO</a:t>
            </a:r>
          </a:p>
        </p:txBody>
      </p:sp>
      <p:sp>
        <p:nvSpPr>
          <p:cNvPr id="100002" name="ProjectName"/>
          <p:cNvSpPr txBox="1"/>
          <p:nvPr/>
        </p:nvSpPr>
        <p:spPr>
          <a:xfrm xmlns:a="http://schemas.openxmlformats.org/drawingml/2006/main">
            <a:off x="576000" y="684000"/>
            <a:ext cx="10800000" cy="11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6400" b="1">
                <a:solidFill>
                  <a:srgbClr val="FFFFFF"/>
                </a:solidFill>
                <a:latin typeface="Calibri"/>
                <a:ea typeface="Calibri"/>
              </a:rPr>
              <a:t>YieldGuard</a:t>
            </a:r>
          </a:p>
        </p:txBody>
      </p:sp>
      <p:sp>
        <p:nvSpPr>
          <p:cNvPr id="100003" name="Tagline"/>
          <p:cNvSpPr txBox="1"/>
          <p:nvPr/>
        </p:nvSpPr>
        <p:spPr>
          <a:xfrm xmlns:a="http://schemas.openxmlformats.org/drawingml/2006/main">
            <a:off x="576000" y="1872000"/>
            <a:ext cx="108000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0">
                <a:solidFill>
                  <a:srgbClr val="8292A8"/>
                </a:solidFill>
              </a:rPr>
              <a:t>AI Root-Cause Assistant for Semiconductor Wafer Yield</a:t>
            </a:r>
          </a:p>
        </p:txBody>
      </p:sp>
      <p:sp>
        <p:nvSpPr>
          <p:cNvPr id="100004" name="divider"/>
          <p:cNvSpPr txBox="1"/>
          <p:nvPr/>
        </p:nvSpPr>
        <p:spPr>
          <a:xfrm xmlns:a="http://schemas.openxmlformats.org/drawingml/2006/main">
            <a:off x="576000" y="2520000"/>
            <a:ext cx="10800000" cy="2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C4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600">
              <a:solidFill>
                <a:srgbClr val="1E2C42"/>
              </a:solidFill>
            </a:endParaRPr>
          </a:p>
        </p:txBody>
      </p:sp>
      <p:sp>
        <p:nvSpPr>
          <p:cNvPr id="100005" name="MemberBox"/>
          <p:cNvSpPr txBox="1"/>
          <p:nvPr/>
        </p:nvSpPr>
        <p:spPr>
          <a:xfrm xmlns:a="http://schemas.openxmlformats.org/drawingml/2006/main">
            <a:off x="576000" y="2664000"/>
            <a:ext cx="108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D1D9E6"/>
                </a:solidFill>
              </a:rPr>
              <a:t>Dhrumil Amin (Lead)   ·   Parva Chhatrola   ·   Akshat Patel   ·   Heet Parikh</a:t>
            </a:r>
          </a:p>
        </p:txBody>
      </p:sp>
      <p:sp>
        <p:nvSpPr>
          <p:cNvPr id="100006" name="OrgLine"/>
          <p:cNvSpPr txBox="1"/>
          <p:nvPr/>
        </p:nvSpPr>
        <p:spPr>
          <a:xfrm xmlns:a="http://schemas.openxmlformats.org/drawingml/2006/main">
            <a:off x="576000" y="3024000"/>
            <a:ext cx="1080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4D5B70"/>
                </a:solidFill>
              </a:rPr>
              <a:t>CHARUSAT University  ·  IBM Hackathon  ·  AI Track</a:t>
            </a:r>
          </a:p>
        </p:txBody>
      </p:sp>
      <p:sp>
        <p:nvSpPr>
          <p:cNvPr id="100007" name="StackPill1"/>
          <p:cNvSpPr txBox="1"/>
          <p:nvPr/>
        </p:nvSpPr>
        <p:spPr>
          <a:xfrm xmlns:a="http://schemas.openxmlformats.org/drawingml/2006/main">
            <a:off x="576000" y="3600000"/>
            <a:ext cx="12600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2B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0A0F1A"/>
                </a:solidFill>
              </a:rPr>
              <a:t>IBM Bob</a:t>
            </a:r>
          </a:p>
        </p:txBody>
      </p:sp>
      <p:sp>
        <p:nvSpPr>
          <p:cNvPr id="100008" name="StackPill2"/>
          <p:cNvSpPr txBox="1"/>
          <p:nvPr/>
        </p:nvSpPr>
        <p:spPr>
          <a:xfrm xmlns:a="http://schemas.openxmlformats.org/drawingml/2006/main">
            <a:off x="1944000" y="3600000"/>
            <a:ext cx="12600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0A0F1A"/>
                </a:solidFill>
              </a:rPr>
              <a:t>watsonx.ai</a:t>
            </a:r>
          </a:p>
        </p:txBody>
      </p:sp>
      <p:sp>
        <p:nvSpPr>
          <p:cNvPr id="100009" name="StackPill3"/>
          <p:cNvSpPr txBox="1"/>
          <p:nvPr/>
        </p:nvSpPr>
        <p:spPr>
          <a:xfrm xmlns:a="http://schemas.openxmlformats.org/drawingml/2006/main">
            <a:off x="3312000" y="3600000"/>
            <a:ext cx="12600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0A0F1A"/>
                </a:solidFill>
              </a:rPr>
              <a:t>PyTorch</a:t>
            </a:r>
          </a:p>
        </p:txBody>
      </p:sp>
      <p:sp>
        <p:nvSpPr>
          <p:cNvPr id="100010" name="StackPill4"/>
          <p:cNvSpPr txBox="1"/>
          <p:nvPr/>
        </p:nvSpPr>
        <p:spPr>
          <a:xfrm xmlns:a="http://schemas.openxmlformats.org/drawingml/2006/main">
            <a:off x="4680000" y="3600000"/>
            <a:ext cx="12600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0A0F1A"/>
                </a:solidFill>
              </a:rPr>
              <a:t>Next.js 16</a:t>
            </a:r>
          </a:p>
        </p:txBody>
      </p:sp>
      <p:sp>
        <p:nvSpPr>
          <p:cNvPr id="100011" name="StackPill5"/>
          <p:cNvSpPr txBox="1"/>
          <p:nvPr/>
        </p:nvSpPr>
        <p:spPr>
          <a:xfrm xmlns:a="http://schemas.openxmlformats.org/drawingml/2006/main">
            <a:off x="6048000" y="3600000"/>
            <a:ext cx="12600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0A0F1A"/>
                </a:solidFill>
              </a:rPr>
              <a:t>FastAPI</a:t>
            </a:r>
          </a:p>
        </p:txBody>
      </p:sp>
      <p:sp>
        <p:nvSpPr>
          <p:cNvPr id="100012" name="StackPill6"/>
          <p:cNvSpPr txBox="1"/>
          <p:nvPr/>
        </p:nvSpPr>
        <p:spPr>
          <a:xfrm xmlns:a="http://schemas.openxmlformats.org/drawingml/2006/main">
            <a:off x="7416000" y="3600000"/>
            <a:ext cx="12600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0A0F1A"/>
                </a:solidFill>
              </a:rPr>
              <a:t>MCP stdio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0F1A"/>
        </a:solidFill>
      </p:bgPr>
    </p:bg>
    <p:spTree>
      <p:nvGrpSpPr>
        <p:cNvPr id="1" name=""/>
        <p:cNvGrpSpPr/>
        <p:nvPr/>
      </p:nvGrpSpPr>
      <p:grpSpPr/>
      <p:sp>
        <p:nvSpPr>
          <p:cNvPr id="100013" name="accent_bar"/>
          <p:cNvSpPr txBox="1"/>
          <p:nvPr/>
        </p:nvSpPr>
        <p:spPr>
          <a:xfrm xmlns:a="http://schemas.openxmlformats.org/drawingml/2006/main">
            <a:off x="0" y="0"/>
            <a:ext cx="12193200" cy="12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2B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600">
              <a:solidFill>
                <a:srgbClr val="00D2B4"/>
              </a:solidFill>
            </a:endParaRPr>
          </a:p>
        </p:txBody>
      </p:sp>
      <p:sp>
        <p:nvSpPr>
          <p:cNvPr id="100014" name="SlideLabel"/>
          <p:cNvSpPr txBox="1"/>
          <p:nvPr/>
        </p:nvSpPr>
        <p:spPr>
          <a:xfrm xmlns:a="http://schemas.openxmlformats.org/drawingml/2006/main">
            <a:off x="576000" y="216000"/>
            <a:ext cx="1080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00D2B4"/>
                </a:solidFill>
              </a:rPr>
              <a:t>02  ·  PROBLEM &amp; SOLUTION</a:t>
            </a:r>
          </a:p>
        </p:txBody>
      </p:sp>
      <p:sp>
        <p:nvSpPr>
          <p:cNvPr id="100015" name="Headline"/>
          <p:cNvSpPr txBox="1"/>
          <p:nvPr/>
        </p:nvSpPr>
        <p:spPr>
          <a:xfrm xmlns:a="http://schemas.openxmlformats.org/drawingml/2006/main">
            <a:off x="576000" y="486000"/>
            <a:ext cx="1080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FFFFF"/>
                </a:solidFill>
              </a:rPr>
              <a:t>Every yield excursion costs millions. Finding the cause takes days.</a:t>
            </a:r>
          </a:p>
        </p:txBody>
      </p:sp>
      <p:sp>
        <p:nvSpPr>
          <p:cNvPr id="100016" name="ProbHeader"/>
          <p:cNvSpPr txBox="1"/>
          <p:nvPr/>
        </p:nvSpPr>
        <p:spPr>
          <a:xfrm xmlns:a="http://schemas.openxmlformats.org/drawingml/2006/main">
            <a:off x="576000" y="1368000"/>
            <a:ext cx="486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EF4444"/>
                </a:solidFill>
              </a:rPr>
              <a:t>WITHOUT YIELDGUARD</a:t>
            </a:r>
          </a:p>
        </p:txBody>
      </p:sp>
      <p:sp>
        <p:nvSpPr>
          <p:cNvPr id="100017" name="B1"/>
          <p:cNvSpPr txBox="1"/>
          <p:nvPr/>
        </p:nvSpPr>
        <p:spPr>
          <a:xfrm xmlns:a="http://schemas.openxmlformats.org/drawingml/2006/main">
            <a:off x="576000" y="1656000"/>
            <a:ext cx="1224000" cy="46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D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Yield</a:t>
            </a:r>
          </a:p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Excursion</a:t>
            </a:r>
          </a:p>
        </p:txBody>
      </p:sp>
      <p:sp>
        <p:nvSpPr>
          <p:cNvPr id="100018" name="A1"/>
          <p:cNvSpPr txBox="1"/>
          <p:nvPr/>
        </p:nvSpPr>
        <p:spPr>
          <a:xfrm xmlns:a="http://schemas.openxmlformats.org/drawingml/2006/main">
            <a:off x="1872000" y="1800000"/>
            <a:ext cx="252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4D5B70"/>
                </a:solidFill>
              </a:rPr>
              <a:t>→</a:t>
            </a:r>
          </a:p>
        </p:txBody>
      </p:sp>
      <p:sp>
        <p:nvSpPr>
          <p:cNvPr id="100019" name="B2"/>
          <p:cNvSpPr txBox="1"/>
          <p:nvPr/>
        </p:nvSpPr>
        <p:spPr>
          <a:xfrm xmlns:a="http://schemas.openxmlformats.org/drawingml/2006/main">
            <a:off x="2160000" y="1656000"/>
            <a:ext cx="1224000" cy="46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D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Manual</a:t>
            </a:r>
          </a:p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Correlation</a:t>
            </a:r>
          </a:p>
        </p:txBody>
      </p:sp>
      <p:sp>
        <p:nvSpPr>
          <p:cNvPr id="100020" name="A2"/>
          <p:cNvSpPr txBox="1"/>
          <p:nvPr/>
        </p:nvSpPr>
        <p:spPr>
          <a:xfrm xmlns:a="http://schemas.openxmlformats.org/drawingml/2006/main">
            <a:off x="3456000" y="1800000"/>
            <a:ext cx="252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4D5B70"/>
                </a:solidFill>
              </a:rPr>
              <a:t>→</a:t>
            </a:r>
          </a:p>
        </p:txBody>
      </p:sp>
      <p:sp>
        <p:nvSpPr>
          <p:cNvPr id="100021" name="B3"/>
          <p:cNvSpPr txBox="1"/>
          <p:nvPr/>
        </p:nvSpPr>
        <p:spPr>
          <a:xfrm xmlns:a="http://schemas.openxmlformats.org/drawingml/2006/main">
            <a:off x="3744000" y="1656000"/>
            <a:ext cx="1224000" cy="46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1D1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EF4444"/>
                </a:solidFill>
              </a:rPr>
              <a:t>Days /</a:t>
            </a:r>
          </a:p>
          <a:p xmlns:a="http://schemas.openxmlformats.org/drawingml/2006/main">
            <a:r>
              <a:rPr lang="en-US" sz="1300" b="1">
                <a:solidFill>
                  <a:srgbClr val="EF4444"/>
                </a:solidFill>
              </a:rPr>
              <a:t>Weeks</a:t>
            </a:r>
          </a:p>
        </p:txBody>
      </p:sp>
      <p:sp>
        <p:nvSpPr>
          <p:cNvPr id="100022" name="ProbSub1"/>
          <p:cNvSpPr txBox="1"/>
          <p:nvPr/>
        </p:nvSpPr>
        <p:spPr>
          <a:xfrm xmlns:a="http://schemas.openxmlformats.org/drawingml/2006/main">
            <a:off x="576000" y="2232000"/>
            <a:ext cx="486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8292A8"/>
                </a:solidFill>
              </a:rPr>
              <a:t>Wafer maps · sensor logs · incident history — siloed, disconnected</a:t>
            </a:r>
          </a:p>
        </p:txBody>
      </p:sp>
      <p:sp>
        <p:nvSpPr>
          <p:cNvPr id="100023" name="ProbSub2"/>
          <p:cNvSpPr txBox="1"/>
          <p:nvPr/>
        </p:nvSpPr>
        <p:spPr>
          <a:xfrm xmlns:a="http://schemas.openxmlformats.org/drawingml/2006/main">
            <a:off x="576000" y="2484000"/>
            <a:ext cx="486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8292A8"/>
                </a:solidFill>
              </a:rPr>
              <a:t>More wafers processed under faulty conditions while investigation is open</a:t>
            </a:r>
          </a:p>
        </p:txBody>
      </p:sp>
      <p:sp>
        <p:nvSpPr>
          <p:cNvPr id="100024" name="ProbSub3"/>
          <p:cNvSpPr txBox="1"/>
          <p:nvPr/>
        </p:nvSpPr>
        <p:spPr>
          <a:xfrm xmlns:a="http://schemas.openxmlformats.org/drawingml/2006/main">
            <a:off x="576000" y="2700000"/>
            <a:ext cx="486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8292A8"/>
                </a:solidFill>
              </a:rPr>
              <a:t>At-risk lots run with no pre-flight check — no flag before they start</a:t>
            </a:r>
          </a:p>
        </p:txBody>
      </p:sp>
      <p:sp>
        <p:nvSpPr>
          <p:cNvPr id="100025" name="vdiv"/>
          <p:cNvSpPr txBox="1"/>
          <p:nvPr/>
        </p:nvSpPr>
        <p:spPr>
          <a:xfrm xmlns:a="http://schemas.openxmlformats.org/drawingml/2006/main">
            <a:off x="5940000" y="1332000"/>
            <a:ext cx="18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C4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600">
              <a:solidFill>
                <a:srgbClr val="1E2C42"/>
              </a:solidFill>
            </a:endParaRPr>
          </a:p>
        </p:txBody>
      </p:sp>
      <p:sp>
        <p:nvSpPr>
          <p:cNvPr id="100026" name="SolHeader"/>
          <p:cNvSpPr txBox="1"/>
          <p:nvPr/>
        </p:nvSpPr>
        <p:spPr>
          <a:xfrm xmlns:a="http://schemas.openxmlformats.org/drawingml/2006/main">
            <a:off x="6120000" y="1368000"/>
            <a:ext cx="540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00D2B4"/>
                </a:solidFill>
              </a:rPr>
              <a:t>WITH YIELDGUARD</a:t>
            </a:r>
          </a:p>
        </p:txBody>
      </p:sp>
      <p:sp>
        <p:nvSpPr>
          <p:cNvPr id="100027" name="F1"/>
          <p:cNvSpPr txBox="1"/>
          <p:nvPr/>
        </p:nvSpPr>
        <p:spPr>
          <a:xfrm xmlns:a="http://schemas.openxmlformats.org/drawingml/2006/main">
            <a:off x="6120000" y="1620000"/>
            <a:ext cx="1296000" cy="46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D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FFFFFF"/>
                </a:solidFill>
              </a:rPr>
              <a:t>Wafer Map</a:t>
            </a:r>
          </a:p>
          <a:p xmlns:a="http://schemas.openxmlformats.org/drawingml/2006/main">
            <a:r>
              <a:rPr lang="en-US" sz="1100" b="1">
                <a:solidFill>
                  <a:srgbClr val="FFFFFF"/>
                </a:solidFill>
              </a:rPr>
              <a:t>(CNN, F1=0.92)</a:t>
            </a:r>
          </a:p>
        </p:txBody>
      </p:sp>
      <p:sp>
        <p:nvSpPr>
          <p:cNvPr id="100028" name="F2"/>
          <p:cNvSpPr txBox="1"/>
          <p:nvPr/>
        </p:nvSpPr>
        <p:spPr>
          <a:xfrm xmlns:a="http://schemas.openxmlformats.org/drawingml/2006/main">
            <a:off x="7560000" y="1620000"/>
            <a:ext cx="1296000" cy="46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D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FFFFFF"/>
                </a:solidFill>
              </a:rPr>
              <a:t>Sensor</a:t>
            </a:r>
          </a:p>
          <a:p xmlns:a="http://schemas.openxmlformats.org/drawingml/2006/main">
            <a:r>
              <a:rPr lang="en-US" sz="1100" b="1">
                <a:solidFill>
                  <a:srgbClr val="FFFFFF"/>
                </a:solidFill>
              </a:rPr>
              <a:t>Anomaly (IF)</a:t>
            </a:r>
          </a:p>
        </p:txBody>
      </p:sp>
      <p:sp>
        <p:nvSpPr>
          <p:cNvPr id="100029" name="F3"/>
          <p:cNvSpPr txBox="1"/>
          <p:nvPr/>
        </p:nvSpPr>
        <p:spPr>
          <a:xfrm xmlns:a="http://schemas.openxmlformats.org/drawingml/2006/main">
            <a:off x="9000000" y="1620000"/>
            <a:ext cx="1296000" cy="46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D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FFFFFF"/>
                </a:solidFill>
              </a:rPr>
              <a:t>Similar</a:t>
            </a:r>
          </a:p>
          <a:p xmlns:a="http://schemas.openxmlformats.org/drawingml/2006/main">
            <a:r>
              <a:rPr lang="en-US" sz="1100" b="1">
                <a:solidFill>
                  <a:srgbClr val="FFFFFF"/>
                </a:solidFill>
              </a:rPr>
              <a:t>Cases (RAG)</a:t>
            </a:r>
          </a:p>
        </p:txBody>
      </p:sp>
      <p:sp>
        <p:nvSpPr>
          <p:cNvPr id="100030" name="F4"/>
          <p:cNvSpPr txBox="1"/>
          <p:nvPr/>
        </p:nvSpPr>
        <p:spPr>
          <a:xfrm xmlns:a="http://schemas.openxmlformats.org/drawingml/2006/main">
            <a:off x="10440000" y="1620000"/>
            <a:ext cx="1296000" cy="46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D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FFFFFF"/>
                </a:solidFill>
              </a:rPr>
              <a:t>Equipment</a:t>
            </a:r>
          </a:p>
          <a:p xmlns:a="http://schemas.openxmlformats.org/drawingml/2006/main">
            <a:r>
              <a:rPr lang="en-US" sz="1100" b="1">
                <a:solidFill>
                  <a:srgbClr val="FFFFFF"/>
                </a:solidFill>
              </a:rPr>
              <a:t>Telemetry</a:t>
            </a:r>
          </a:p>
        </p:txBody>
      </p:sp>
      <p:sp>
        <p:nvSpPr>
          <p:cNvPr id="100031" name="Arrow1"/>
          <p:cNvSpPr txBox="1"/>
          <p:nvPr/>
        </p:nvSpPr>
        <p:spPr>
          <a:xfrm xmlns:a="http://schemas.openxmlformats.org/drawingml/2006/main">
            <a:off x="6408000" y="2160000"/>
            <a:ext cx="288000" cy="1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600">
              <a:solidFill>
                <a:srgbClr val="00D2B4"/>
              </a:solidFill>
            </a:endParaRPr>
          </a:p>
        </p:txBody>
      </p:sp>
      <p:sp>
        <p:nvSpPr>
          <p:cNvPr id="100032" name="Arrow2"/>
          <p:cNvSpPr txBox="1"/>
          <p:nvPr/>
        </p:nvSpPr>
        <p:spPr>
          <a:xfrm xmlns:a="http://schemas.openxmlformats.org/drawingml/2006/main">
            <a:off x="7848000" y="2160000"/>
            <a:ext cx="288000" cy="1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600">
              <a:solidFill>
                <a:srgbClr val="00D2B4"/>
              </a:solidFill>
            </a:endParaRPr>
          </a:p>
        </p:txBody>
      </p:sp>
      <p:sp>
        <p:nvSpPr>
          <p:cNvPr id="100033" name="Arrow3"/>
          <p:cNvSpPr txBox="1"/>
          <p:nvPr/>
        </p:nvSpPr>
        <p:spPr>
          <a:xfrm xmlns:a="http://schemas.openxmlformats.org/drawingml/2006/main">
            <a:off x="9288000" y="2160000"/>
            <a:ext cx="288000" cy="1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600">
              <a:solidFill>
                <a:srgbClr val="00D2B4"/>
              </a:solidFill>
            </a:endParaRPr>
          </a:p>
        </p:txBody>
      </p:sp>
      <p:sp>
        <p:nvSpPr>
          <p:cNvPr id="100034" name="Arrow4"/>
          <p:cNvSpPr txBox="1"/>
          <p:nvPr/>
        </p:nvSpPr>
        <p:spPr>
          <a:xfrm xmlns:a="http://schemas.openxmlformats.org/drawingml/2006/main">
            <a:off x="10728000" y="2160000"/>
            <a:ext cx="288000" cy="1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600">
              <a:solidFill>
                <a:srgbClr val="00D2B4"/>
              </a:solidFill>
            </a:endParaRPr>
          </a:p>
        </p:txBody>
      </p:sp>
      <p:sp>
        <p:nvSpPr>
          <p:cNvPr id="100035" name="FunnelArrow"/>
          <p:cNvSpPr txBox="1"/>
          <p:nvPr/>
        </p:nvSpPr>
        <p:spPr>
          <a:xfrm xmlns:a="http://schemas.openxmlformats.org/drawingml/2006/main">
            <a:off x="8640000" y="2196000"/>
            <a:ext cx="180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00D2B4"/>
                </a:solidFill>
              </a:rPr>
              <a:t>↓  all evidence</a:t>
            </a:r>
          </a:p>
        </p:txBody>
      </p:sp>
      <p:sp>
        <p:nvSpPr>
          <p:cNvPr id="100036" name="R1"/>
          <p:cNvSpPr txBox="1"/>
          <p:nvPr/>
        </p:nvSpPr>
        <p:spPr>
          <a:xfrm xmlns:a="http://schemas.openxmlformats.org/drawingml/2006/main">
            <a:off x="7200000" y="2484000"/>
            <a:ext cx="28800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2B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0A0F1A"/>
                </a:solidFill>
              </a:rPr>
              <a:t>rank_root_causes</a:t>
            </a:r>
          </a:p>
          <a:p xmlns:a="http://schemas.openxmlformats.org/drawingml/2006/main">
            <a:r>
              <a:rPr lang="en-US" sz="1300" b="1">
                <a:solidFill>
                  <a:srgbClr val="0A0F1A"/>
                </a:solidFill>
              </a:rPr>
              <a:t>(Gemini / Granite)</a:t>
            </a:r>
          </a:p>
        </p:txBody>
      </p:sp>
      <p:sp>
        <p:nvSpPr>
          <p:cNvPr id="100037" name="DownArrow"/>
          <p:cNvSpPr txBox="1"/>
          <p:nvPr/>
        </p:nvSpPr>
        <p:spPr>
          <a:xfrm xmlns:a="http://schemas.openxmlformats.org/drawingml/2006/main">
            <a:off x="8496000" y="3060000"/>
            <a:ext cx="36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00D2B4"/>
                </a:solidFill>
              </a:rPr>
              <a:t>↓</a:t>
            </a:r>
          </a:p>
        </p:txBody>
      </p:sp>
      <p:sp>
        <p:nvSpPr>
          <p:cNvPr id="100038" name="Out"/>
          <p:cNvSpPr txBox="1"/>
          <p:nvPr/>
        </p:nvSpPr>
        <p:spPr>
          <a:xfrm xmlns:a="http://schemas.openxmlformats.org/drawingml/2006/main">
            <a:off x="6120000" y="3312000"/>
            <a:ext cx="540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D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D1D9E6"/>
                </a:solidFill>
              </a:rPr>
              <a:t>Ranked hypotheses — each cites a named sensor / case ID</a:t>
            </a:r>
          </a:p>
          <a:p xmlns:a="http://schemas.openxmlformats.org/drawingml/2006/main">
            <a:r>
              <a:rPr lang="en-US" sz="1300" b="0">
                <a:solidFill>
                  <a:srgbClr val="D1D9E6"/>
                </a:solidFill>
              </a:rPr>
              <a:t>Playbook dispatched in minutes, not days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0F1A"/>
        </a:solidFill>
      </p:bgPr>
    </p:bg>
    <p:spTree>
      <p:nvGrpSpPr>
        <p:cNvPr id="1" name=""/>
        <p:cNvGrpSpPr/>
        <p:nvPr/>
      </p:nvGrpSpPr>
      <p:grpSpPr/>
      <p:sp>
        <p:nvSpPr>
          <p:cNvPr id="100039" name="accent_bar"/>
          <p:cNvSpPr txBox="1"/>
          <p:nvPr/>
        </p:nvSpPr>
        <p:spPr>
          <a:xfrm xmlns:a="http://schemas.openxmlformats.org/drawingml/2006/main">
            <a:off x="0" y="0"/>
            <a:ext cx="12193200" cy="12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2B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600">
              <a:solidFill>
                <a:srgbClr val="00D2B4"/>
              </a:solidFill>
            </a:endParaRPr>
          </a:p>
        </p:txBody>
      </p:sp>
      <p:sp>
        <p:nvSpPr>
          <p:cNvPr id="100040" name="SlideLabel"/>
          <p:cNvSpPr txBox="1"/>
          <p:nvPr/>
        </p:nvSpPr>
        <p:spPr>
          <a:xfrm xmlns:a="http://schemas.openxmlformats.org/drawingml/2006/main">
            <a:off x="576000" y="216000"/>
            <a:ext cx="1080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00D2B4"/>
                </a:solidFill>
              </a:rPr>
              <a:t>03  ·  ARCHITECTURE</a:t>
            </a:r>
          </a:p>
        </p:txBody>
      </p:sp>
      <p:sp>
        <p:nvSpPr>
          <p:cNvPr id="100041" name="Headline"/>
          <p:cNvSpPr txBox="1"/>
          <p:nvPr/>
        </p:nvSpPr>
        <p:spPr>
          <a:xfrm xmlns:a="http://schemas.openxmlformats.org/drawingml/2006/main">
            <a:off x="576000" y="486000"/>
            <a:ext cx="1080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FFFFFF"/>
                </a:solidFill>
              </a:rPr>
              <a:t>Two surfaces. One contract layer. All evidence grounded.</a:t>
            </a:r>
          </a:p>
        </p:txBody>
      </p:sp>
      <p:sp>
        <p:nvSpPr>
          <p:cNvPr id="100042" name="LUser"/>
          <p:cNvSpPr txBox="1"/>
          <p:nvPr/>
        </p:nvSpPr>
        <p:spPr>
          <a:xfrm xmlns:a="http://schemas.openxmlformats.org/drawingml/2006/main">
            <a:off x="540000" y="1152000"/>
            <a:ext cx="1080000" cy="3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D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Engineer</a:t>
            </a:r>
          </a:p>
        </p:txBody>
      </p:sp>
      <p:sp>
        <p:nvSpPr>
          <p:cNvPr id="100043" name="ArrowToBob"/>
          <p:cNvSpPr txBox="1"/>
          <p:nvPr/>
        </p:nvSpPr>
        <p:spPr>
          <a:xfrm xmlns:a="http://schemas.openxmlformats.org/drawingml/2006/main">
            <a:off x="1692000" y="1260000"/>
            <a:ext cx="144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4D5B70"/>
                </a:solidFill>
              </a:rPr>
              <a:t>→  natural language</a:t>
            </a:r>
          </a:p>
        </p:txBody>
      </p:sp>
      <p:sp>
        <p:nvSpPr>
          <p:cNvPr id="100044" name="BobBox"/>
          <p:cNvSpPr txBox="1"/>
          <p:nvPr/>
        </p:nvSpPr>
        <p:spPr>
          <a:xfrm xmlns:a="http://schemas.openxmlformats.org/drawingml/2006/main">
            <a:off x="3204000" y="1080000"/>
            <a:ext cx="16200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2B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0A0F1A"/>
                </a:solidFill>
              </a:rPr>
              <a:t>IBM Bob</a:t>
            </a:r>
          </a:p>
          <a:p xmlns:a="http://schemas.openxmlformats.org/drawingml/2006/main">
            <a:r>
              <a:rPr lang="en-US" sz="1300" b="1">
                <a:solidFill>
                  <a:srgbClr val="0A0F1A"/>
                </a:solidFill>
              </a:rPr>
              <a:t>Agent Orchestrator</a:t>
            </a:r>
          </a:p>
        </p:txBody>
      </p:sp>
      <p:sp>
        <p:nvSpPr>
          <p:cNvPr id="100045" name="ArrowToHMI"/>
          <p:cNvSpPr txBox="1"/>
          <p:nvPr/>
        </p:nvSpPr>
        <p:spPr>
          <a:xfrm xmlns:a="http://schemas.openxmlformats.org/drawingml/2006/main">
            <a:off x="1692000" y="1620000"/>
            <a:ext cx="1152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4D5B70"/>
                </a:solidFill>
              </a:rPr>
              <a:t>→  clicks / canvas</a:t>
            </a:r>
          </a:p>
        </p:txBody>
      </p:sp>
      <p:sp>
        <p:nvSpPr>
          <p:cNvPr id="100046" name="HMIBox"/>
          <p:cNvSpPr txBox="1"/>
          <p:nvPr/>
        </p:nvSpPr>
        <p:spPr>
          <a:xfrm xmlns:a="http://schemas.openxmlformats.org/drawingml/2006/main">
            <a:off x="3204000" y="1656000"/>
            <a:ext cx="16200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0A0F1A"/>
                </a:solidFill>
              </a:rPr>
              <a:t>Next.js HMI</a:t>
            </a:r>
          </a:p>
          <a:p xmlns:a="http://schemas.openxmlformats.org/drawingml/2006/main">
            <a:r>
              <a:rPr lang="en-US" sz="1300" b="1">
                <a:solidFill>
                  <a:srgbClr val="0A0F1A"/>
                </a:solidFill>
              </a:rPr>
              <a:t>ISA-101 Console</a:t>
            </a:r>
          </a:p>
        </p:txBody>
      </p:sp>
      <p:sp>
        <p:nvSpPr>
          <p:cNvPr id="100047" name="MCPLabel"/>
          <p:cNvSpPr txBox="1"/>
          <p:nvPr/>
        </p:nvSpPr>
        <p:spPr>
          <a:xfrm xmlns:a="http://schemas.openxmlformats.org/drawingml/2006/main">
            <a:off x="5220000" y="972000"/>
            <a:ext cx="630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38BDF8"/>
                </a:solidFill>
              </a:rPr>
              <a:t>MCP SERVER  (14 tools over stdio)</a:t>
            </a:r>
          </a:p>
        </p:txBody>
      </p:sp>
      <p:sp>
        <p:nvSpPr>
          <p:cNvPr id="100048" name="MCPBorder"/>
          <p:cNvSpPr txBox="1"/>
          <p:nvPr/>
        </p:nvSpPr>
        <p:spPr>
          <a:xfrm xmlns:a="http://schemas.openxmlformats.org/drawingml/2006/main">
            <a:off x="5148000" y="1188000"/>
            <a:ext cx="6552000" cy="25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600">
              <a:solidFill>
                <a:srgbClr val="1E2C42"/>
              </a:solidFill>
            </a:endParaRPr>
          </a:p>
        </p:txBody>
      </p:sp>
      <p:sp>
        <p:nvSpPr>
          <p:cNvPr id="100049" name="MCPArrow"/>
          <p:cNvSpPr txBox="1"/>
          <p:nvPr/>
        </p:nvSpPr>
        <p:spPr>
          <a:xfrm xmlns:a="http://schemas.openxmlformats.org/drawingml/2006/main">
            <a:off x="4896000" y="1296000"/>
            <a:ext cx="72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4D5B70"/>
                </a:solidFill>
              </a:rPr>
              <a:t>MCP tools  →</a:t>
            </a:r>
          </a:p>
        </p:txBody>
      </p:sp>
      <p:sp>
        <p:nvSpPr>
          <p:cNvPr id="100050" name="T1"/>
          <p:cNvSpPr txBox="1"/>
          <p:nvPr/>
        </p:nvSpPr>
        <p:spPr>
          <a:xfrm xmlns:a="http://schemas.openxmlformats.org/drawingml/2006/main">
            <a:off x="5256000" y="1260000"/>
            <a:ext cx="1260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D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FFFFFF"/>
                </a:solidFill>
              </a:rPr>
              <a:t>classify_</a:t>
            </a:r>
          </a:p>
          <a:p xmlns:a="http://schemas.openxmlformats.org/drawingml/2006/main">
            <a:r>
              <a:rPr lang="en-US" sz="1100" b="1">
                <a:solidFill>
                  <a:srgbClr val="FFFFFF"/>
                </a:solidFill>
              </a:rPr>
              <a:t>wafer_map</a:t>
            </a:r>
          </a:p>
        </p:txBody>
      </p:sp>
      <p:sp>
        <p:nvSpPr>
          <p:cNvPr id="100051" name="T2"/>
          <p:cNvSpPr txBox="1"/>
          <p:nvPr/>
        </p:nvSpPr>
        <p:spPr>
          <a:xfrm xmlns:a="http://schemas.openxmlformats.org/drawingml/2006/main">
            <a:off x="6624000" y="1260000"/>
            <a:ext cx="1260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D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FFFFFF"/>
                </a:solidFill>
              </a:rPr>
              <a:t>score_sensor_</a:t>
            </a:r>
          </a:p>
          <a:p xmlns:a="http://schemas.openxmlformats.org/drawingml/2006/main">
            <a:r>
              <a:rPr lang="en-US" sz="1100" b="1">
                <a:solidFill>
                  <a:srgbClr val="FFFFFF"/>
                </a:solidFill>
              </a:rPr>
              <a:t>anomaly</a:t>
            </a:r>
          </a:p>
        </p:txBody>
      </p:sp>
      <p:sp>
        <p:nvSpPr>
          <p:cNvPr id="100052" name="T3"/>
          <p:cNvSpPr txBox="1"/>
          <p:nvPr/>
        </p:nvSpPr>
        <p:spPr>
          <a:xfrm xmlns:a="http://schemas.openxmlformats.org/drawingml/2006/main">
            <a:off x="7992000" y="1260000"/>
            <a:ext cx="1260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D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FFFFFF"/>
                </a:solidFill>
              </a:rPr>
              <a:t>retrieve_</a:t>
            </a:r>
          </a:p>
          <a:p xmlns:a="http://schemas.openxmlformats.org/drawingml/2006/main">
            <a:r>
              <a:rPr lang="en-US" sz="1100" b="1">
                <a:solidFill>
                  <a:srgbClr val="FFFFFF"/>
                </a:solidFill>
              </a:rPr>
              <a:t>similar_cases</a:t>
            </a:r>
          </a:p>
        </p:txBody>
      </p:sp>
      <p:sp>
        <p:nvSpPr>
          <p:cNvPr id="100053" name="T4"/>
          <p:cNvSpPr txBox="1"/>
          <p:nvPr/>
        </p:nvSpPr>
        <p:spPr>
          <a:xfrm xmlns:a="http://schemas.openxmlformats.org/drawingml/2006/main">
            <a:off x="9360000" y="1260000"/>
            <a:ext cx="1260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D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FFFFFF"/>
                </a:solidFill>
              </a:rPr>
              <a:t>query_</a:t>
            </a:r>
          </a:p>
          <a:p xmlns:a="http://schemas.openxmlformats.org/drawingml/2006/main">
            <a:r>
              <a:rPr lang="en-US" sz="1100" b="1">
                <a:solidFill>
                  <a:srgbClr val="FFFFFF"/>
                </a:solidFill>
              </a:rPr>
              <a:t>telemetry</a:t>
            </a:r>
          </a:p>
        </p:txBody>
      </p:sp>
      <p:sp>
        <p:nvSpPr>
          <p:cNvPr id="100054" name="T7"/>
          <p:cNvSpPr txBox="1"/>
          <p:nvPr/>
        </p:nvSpPr>
        <p:spPr>
          <a:xfrm xmlns:a="http://schemas.openxmlformats.org/drawingml/2006/main">
            <a:off x="10728000" y="1260000"/>
            <a:ext cx="900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D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FFFFFF"/>
                </a:solidFill>
              </a:rPr>
              <a:t>flag_at_risk</a:t>
            </a:r>
          </a:p>
          <a:p xmlns:a="http://schemas.openxmlformats.org/drawingml/2006/main">
            <a:r>
              <a:rPr lang="en-US" sz="1000" b="1">
                <a:solidFill>
                  <a:srgbClr val="FFFFFF"/>
                </a:solidFill>
              </a:rPr>
              <a:t>_batch</a:t>
            </a:r>
          </a:p>
        </p:txBody>
      </p:sp>
      <p:sp>
        <p:nvSpPr>
          <p:cNvPr id="100055" name="EvLabel"/>
          <p:cNvSpPr txBox="1"/>
          <p:nvPr/>
        </p:nvSpPr>
        <p:spPr>
          <a:xfrm xmlns:a="http://schemas.openxmlformats.org/drawingml/2006/main">
            <a:off x="5256000" y="1764000"/>
            <a:ext cx="288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4D5B70"/>
                </a:solidFill>
              </a:rPr>
              <a:t>EVIDENCE  INPUTS</a:t>
            </a:r>
          </a:p>
        </p:txBody>
      </p:sp>
      <p:sp>
        <p:nvSpPr>
          <p:cNvPr id="100056" name="EvArrows"/>
          <p:cNvSpPr txBox="1"/>
          <p:nvPr/>
        </p:nvSpPr>
        <p:spPr>
          <a:xfrm xmlns:a="http://schemas.openxmlformats.org/drawingml/2006/main">
            <a:off x="5256000" y="1944000"/>
            <a:ext cx="648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00D2B4"/>
                </a:solidFill>
              </a:rPr>
              <a:t>↓              ↓              ↓              ↓</a:t>
            </a:r>
          </a:p>
        </p:txBody>
      </p:sp>
      <p:sp>
        <p:nvSpPr>
          <p:cNvPr id="100057" name="RankBox"/>
          <p:cNvSpPr txBox="1"/>
          <p:nvPr/>
        </p:nvSpPr>
        <p:spPr>
          <a:xfrm xmlns:a="http://schemas.openxmlformats.org/drawingml/2006/main">
            <a:off x="5256000" y="2196000"/>
            <a:ext cx="540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2B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0A0F1A"/>
                </a:solidFill>
              </a:rPr>
              <a:t>rank_root_causes</a:t>
            </a:r>
          </a:p>
          <a:p xmlns:a="http://schemas.openxmlformats.org/drawingml/2006/main">
            <a:r>
              <a:rPr lang="en-US" sz="1300" b="1">
                <a:solidFill>
                  <a:srgbClr val="0A0F1A"/>
                </a:solidFill>
              </a:rPr>
              <a:t>(Gemini 3.5 Flash-Lite  +  watsonx.ai Granite fallback)</a:t>
            </a:r>
          </a:p>
        </p:txBody>
      </p:sp>
      <p:sp>
        <p:nvSpPr>
          <p:cNvPr id="100058" name="PlayArrow"/>
          <p:cNvSpPr txBox="1"/>
          <p:nvPr/>
        </p:nvSpPr>
        <p:spPr>
          <a:xfrm xmlns:a="http://schemas.openxmlformats.org/drawingml/2006/main">
            <a:off x="7740000" y="2808000"/>
            <a:ext cx="288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00D2B4"/>
                </a:solidFill>
              </a:rPr>
              <a:t>↓</a:t>
            </a:r>
          </a:p>
        </p:txBody>
      </p:sp>
      <p:sp>
        <p:nvSpPr>
          <p:cNvPr id="100059" name="PlayBox"/>
          <p:cNvSpPr txBox="1"/>
          <p:nvPr/>
        </p:nvSpPr>
        <p:spPr>
          <a:xfrm xmlns:a="http://schemas.openxmlformats.org/drawingml/2006/main">
            <a:off x="5256000" y="3060000"/>
            <a:ext cx="5400000" cy="34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43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D1D9E6"/>
                </a:solidFill>
              </a:rPr>
              <a:t>get_corrective_action_playbook</a:t>
            </a:r>
          </a:p>
        </p:txBody>
      </p:sp>
      <p:sp>
        <p:nvSpPr>
          <p:cNvPr id="100060" name="FeedBox"/>
          <p:cNvSpPr txBox="1"/>
          <p:nvPr/>
        </p:nvSpPr>
        <p:spPr>
          <a:xfrm xmlns:a="http://schemas.openxmlformats.org/drawingml/2006/main">
            <a:off x="5256000" y="3456000"/>
            <a:ext cx="2592000" cy="3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43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8292A8"/>
                </a:solidFill>
              </a:rPr>
              <a:t>submit_feedback</a:t>
            </a:r>
          </a:p>
        </p:txBody>
      </p:sp>
      <p:sp>
        <p:nvSpPr>
          <p:cNvPr id="100061" name="CogBox"/>
          <p:cNvSpPr txBox="1"/>
          <p:nvPr/>
        </p:nvSpPr>
        <p:spPr>
          <a:xfrm xmlns:a="http://schemas.openxmlformats.org/drawingml/2006/main">
            <a:off x="7992000" y="3456000"/>
            <a:ext cx="2664000" cy="3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43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8292A8"/>
                </a:solidFill>
              </a:rPr>
              <a:t>record_prior_read</a:t>
            </a:r>
          </a:p>
        </p:txBody>
      </p:sp>
      <p:sp>
        <p:nvSpPr>
          <p:cNvPr id="100062" name="ModelLabel"/>
          <p:cNvSpPr txBox="1"/>
          <p:nvPr/>
        </p:nvSpPr>
        <p:spPr>
          <a:xfrm xmlns:a="http://schemas.openxmlformats.org/drawingml/2006/main">
            <a:off x="540000" y="2520000"/>
            <a:ext cx="180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4D5B70"/>
                </a:solidFill>
              </a:rPr>
              <a:t>MODELS</a:t>
            </a:r>
          </a:p>
        </p:txBody>
      </p:sp>
      <p:sp>
        <p:nvSpPr>
          <p:cNvPr id="100063" name="M1"/>
          <p:cNvSpPr txBox="1"/>
          <p:nvPr/>
        </p:nvSpPr>
        <p:spPr>
          <a:xfrm xmlns:a="http://schemas.openxmlformats.org/drawingml/2006/main">
            <a:off x="540000" y="2772000"/>
            <a:ext cx="1980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D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D1D9E6"/>
                </a:solidFill>
              </a:rPr>
              <a:t>WaferCNN</a:t>
            </a:r>
          </a:p>
          <a:p xmlns:a="http://schemas.openxmlformats.org/drawingml/2006/main">
            <a:r>
              <a:rPr lang="en-US" sz="1100" b="0">
                <a:solidFill>
                  <a:srgbClr val="D1D9E6"/>
                </a:solidFill>
              </a:rPr>
              <a:t>macro-F1 0.92</a:t>
            </a:r>
          </a:p>
        </p:txBody>
      </p:sp>
      <p:sp>
        <p:nvSpPr>
          <p:cNvPr id="100064" name="M2"/>
          <p:cNvSpPr txBox="1"/>
          <p:nvPr/>
        </p:nvSpPr>
        <p:spPr>
          <a:xfrm xmlns:a="http://schemas.openxmlformats.org/drawingml/2006/main">
            <a:off x="2628000" y="2772000"/>
            <a:ext cx="1980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D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D1D9E6"/>
                </a:solidFill>
              </a:rPr>
              <a:t>Isolation Forest</a:t>
            </a:r>
          </a:p>
          <a:p xmlns:a="http://schemas.openxmlformats.org/drawingml/2006/main">
            <a:r>
              <a:rPr lang="en-US" sz="1100" b="0">
                <a:solidFill>
                  <a:srgbClr val="D1D9E6"/>
                </a:solidFill>
              </a:rPr>
              <a:t>SECOM recall 0.29</a:t>
            </a:r>
          </a:p>
        </p:txBody>
      </p:sp>
      <p:sp>
        <p:nvSpPr>
          <p:cNvPr id="100065" name="M3"/>
          <p:cNvSpPr txBox="1"/>
          <p:nvPr/>
        </p:nvSpPr>
        <p:spPr>
          <a:xfrm xmlns:a="http://schemas.openxmlformats.org/drawingml/2006/main">
            <a:off x="540000" y="3276000"/>
            <a:ext cx="1980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D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D1D9E6"/>
                </a:solidFill>
              </a:rPr>
              <a:t>RAG Case Store</a:t>
            </a:r>
          </a:p>
          <a:p xmlns:a="http://schemas.openxmlformats.org/drawingml/2006/main">
            <a:r>
              <a:rPr lang="en-US" sz="1100" b="0">
                <a:solidFill>
                  <a:srgbClr val="D1D9E6"/>
                </a:solidFill>
              </a:rPr>
              <a:t>shared case_id space</a:t>
            </a:r>
          </a:p>
        </p:txBody>
      </p:sp>
      <p:sp>
        <p:nvSpPr>
          <p:cNvPr id="100066" name="M4"/>
          <p:cNvSpPr txBox="1"/>
          <p:nvPr/>
        </p:nvSpPr>
        <p:spPr>
          <a:xfrm xmlns:a="http://schemas.openxmlformats.org/drawingml/2006/main">
            <a:off x="2628000" y="3276000"/>
            <a:ext cx="1980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D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D1D9E6"/>
                </a:solidFill>
              </a:rPr>
              <a:t>Simulated SECS/GEM</a:t>
            </a:r>
          </a:p>
          <a:p xmlns:a="http://schemas.openxmlformats.org/drawingml/2006/main">
            <a:r>
              <a:rPr lang="en-US" sz="1100" b="0">
                <a:solidFill>
                  <a:srgbClr val="D1D9E6"/>
                </a:solidFill>
              </a:rPr>
              <a:t>telemetry lookup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0F1A"/>
        </a:solidFill>
      </p:bgPr>
    </p:bg>
    <p:spTree>
      <p:nvGrpSpPr>
        <p:cNvPr id="1" name=""/>
        <p:cNvGrpSpPr/>
        <p:nvPr/>
      </p:nvGrpSpPr>
      <p:grpSpPr/>
      <p:sp>
        <p:nvSpPr>
          <p:cNvPr id="100067" name="accent_bar"/>
          <p:cNvSpPr txBox="1"/>
          <p:nvPr/>
        </p:nvSpPr>
        <p:spPr>
          <a:xfrm xmlns:a="http://schemas.openxmlformats.org/drawingml/2006/main">
            <a:off x="0" y="0"/>
            <a:ext cx="12193200" cy="12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2B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600">
              <a:solidFill>
                <a:srgbClr val="00D2B4"/>
              </a:solidFill>
            </a:endParaRPr>
          </a:p>
        </p:txBody>
      </p:sp>
      <p:sp>
        <p:nvSpPr>
          <p:cNvPr id="100068" name="SlideLabel"/>
          <p:cNvSpPr txBox="1"/>
          <p:nvPr/>
        </p:nvSpPr>
        <p:spPr>
          <a:xfrm xmlns:a="http://schemas.openxmlformats.org/drawingml/2006/main">
            <a:off x="576000" y="252000"/>
            <a:ext cx="1080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00D2B4"/>
                </a:solidFill>
              </a:rPr>
              <a:t>04  ·  LIVE DEMO</a:t>
            </a:r>
          </a:p>
        </p:txBody>
      </p:sp>
      <p:sp>
        <p:nvSpPr>
          <p:cNvPr id="100069" name="BigCTA"/>
          <p:cNvSpPr txBox="1"/>
          <p:nvPr/>
        </p:nvSpPr>
        <p:spPr>
          <a:xfrm xmlns:a="http://schemas.openxmlformats.org/drawingml/2006/main">
            <a:off x="576000" y="648000"/>
            <a:ext cx="108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  <a:latin typeface="Calibri"/>
                <a:ea typeface="Calibri"/>
              </a:rPr>
              <a:t>Let's jump to the live demo.</a:t>
            </a:r>
          </a:p>
        </p:txBody>
      </p:sp>
      <p:sp>
        <p:nvSpPr>
          <p:cNvPr id="100070" name="DemoFlow_Label"/>
          <p:cNvSpPr txBox="1"/>
          <p:nvPr/>
        </p:nvSpPr>
        <p:spPr>
          <a:xfrm xmlns:a="http://schemas.openxmlformats.org/drawingml/2006/main">
            <a:off x="576000" y="1692000"/>
            <a:ext cx="288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4D5B70"/>
                </a:solidFill>
              </a:rPr>
              <a:t>DEMO FLOW</a:t>
            </a:r>
          </a:p>
        </p:txBody>
      </p:sp>
      <p:sp>
        <p:nvSpPr>
          <p:cNvPr id="100071" name="S1"/>
          <p:cNvSpPr txBox="1"/>
          <p:nvPr/>
        </p:nvSpPr>
        <p:spPr>
          <a:xfrm xmlns:a="http://schemas.openxmlformats.org/drawingml/2006/main">
            <a:off x="576000" y="1980000"/>
            <a:ext cx="1620000" cy="8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D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FFFFFF"/>
                </a:solidFill>
              </a:rPr>
              <a:t>1</a:t>
            </a:r>
          </a:p>
          <a:p xmlns:a="http://schemas.openxmlformats.org/drawingml/2006/main">
            <a:r>
              <a:rPr lang="en-US" sz="1200" b="1">
                <a:solidFill>
                  <a:srgbClr val="FFFFFF"/>
                </a:solidFill>
              </a:rPr>
              <a:t>Fleet</a:t>
            </a:r>
          </a:p>
          <a:p xmlns:a="http://schemas.openxmlformats.org/drawingml/2006/main">
            <a:r>
              <a:rPr lang="en-US" sz="1200" b="1">
                <a:solidFill>
                  <a:srgbClr val="FFFFFF"/>
                </a:solidFill>
              </a:rPr>
              <a:t>Monitor</a:t>
            </a:r>
          </a:p>
        </p:txBody>
      </p:sp>
      <p:sp>
        <p:nvSpPr>
          <p:cNvPr id="100072" name="DA1"/>
          <p:cNvSpPr txBox="1"/>
          <p:nvPr/>
        </p:nvSpPr>
        <p:spPr>
          <a:xfrm xmlns:a="http://schemas.openxmlformats.org/drawingml/2006/main">
            <a:off x="2268000" y="2304000"/>
            <a:ext cx="288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00D2B4"/>
                </a:solidFill>
              </a:rPr>
              <a:t>→</a:t>
            </a:r>
          </a:p>
        </p:txBody>
      </p:sp>
      <p:sp>
        <p:nvSpPr>
          <p:cNvPr id="100073" name="S2"/>
          <p:cNvSpPr txBox="1"/>
          <p:nvPr/>
        </p:nvSpPr>
        <p:spPr>
          <a:xfrm xmlns:a="http://schemas.openxmlformats.org/drawingml/2006/main">
            <a:off x="2628000" y="1980000"/>
            <a:ext cx="1620000" cy="8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D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FFFFFF"/>
                </a:solidFill>
              </a:rPr>
              <a:t>2</a:t>
            </a:r>
          </a:p>
          <a:p xmlns:a="http://schemas.openxmlformats.org/drawingml/2006/main">
            <a:r>
              <a:rPr lang="en-US" sz="1200" b="1">
                <a:solidFill>
                  <a:srgbClr val="FFFFFF"/>
                </a:solidFill>
              </a:rPr>
              <a:t>Lot</a:t>
            </a:r>
          </a:p>
          <a:p xmlns:a="http://schemas.openxmlformats.org/drawingml/2006/main">
            <a:r>
              <a:rPr lang="en-US" sz="1200" b="1">
                <a:solidFill>
                  <a:srgbClr val="FFFFFF"/>
                </a:solidFill>
              </a:rPr>
              <a:t>Diagnostic</a:t>
            </a:r>
          </a:p>
        </p:txBody>
      </p:sp>
      <p:sp>
        <p:nvSpPr>
          <p:cNvPr id="100074" name="DA2"/>
          <p:cNvSpPr txBox="1"/>
          <p:nvPr/>
        </p:nvSpPr>
        <p:spPr>
          <a:xfrm xmlns:a="http://schemas.openxmlformats.org/drawingml/2006/main">
            <a:off x="4320000" y="2304000"/>
            <a:ext cx="288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00D2B4"/>
                </a:solidFill>
              </a:rPr>
              <a:t>→</a:t>
            </a:r>
          </a:p>
        </p:txBody>
      </p:sp>
      <p:sp>
        <p:nvSpPr>
          <p:cNvPr id="100075" name="S3"/>
          <p:cNvSpPr txBox="1"/>
          <p:nvPr/>
        </p:nvSpPr>
        <p:spPr>
          <a:xfrm xmlns:a="http://schemas.openxmlformats.org/drawingml/2006/main">
            <a:off x="4680000" y="1980000"/>
            <a:ext cx="1620000" cy="8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D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FFFFFF"/>
                </a:solidFill>
              </a:rPr>
              <a:t>3</a:t>
            </a:r>
          </a:p>
          <a:p xmlns:a="http://schemas.openxmlformats.org/drawingml/2006/main">
            <a:r>
              <a:rPr lang="en-US" sz="1200" b="1">
                <a:solidFill>
                  <a:srgbClr val="FFFFFF"/>
                </a:solidFill>
              </a:rPr>
              <a:t>Wafer Map</a:t>
            </a:r>
          </a:p>
          <a:p xmlns:a="http://schemas.openxmlformats.org/drawingml/2006/main">
            <a:r>
              <a:rPr lang="en-US" sz="1200" b="1">
                <a:solidFill>
                  <a:srgbClr val="FFFFFF"/>
                </a:solidFill>
              </a:rPr>
              <a:t>Canvas</a:t>
            </a:r>
          </a:p>
        </p:txBody>
      </p:sp>
      <p:sp>
        <p:nvSpPr>
          <p:cNvPr id="100076" name="DA3"/>
          <p:cNvSpPr txBox="1"/>
          <p:nvPr/>
        </p:nvSpPr>
        <p:spPr>
          <a:xfrm xmlns:a="http://schemas.openxmlformats.org/drawingml/2006/main">
            <a:off x="6372000" y="2304000"/>
            <a:ext cx="288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00D2B4"/>
                </a:solidFill>
              </a:rPr>
              <a:t>→</a:t>
            </a:r>
          </a:p>
        </p:txBody>
      </p:sp>
      <p:sp>
        <p:nvSpPr>
          <p:cNvPr id="100077" name="S4"/>
          <p:cNvSpPr txBox="1"/>
          <p:nvPr/>
        </p:nvSpPr>
        <p:spPr>
          <a:xfrm xmlns:a="http://schemas.openxmlformats.org/drawingml/2006/main">
            <a:off x="6732000" y="1980000"/>
            <a:ext cx="1620000" cy="8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2B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0A0F1A"/>
                </a:solidFill>
              </a:rPr>
              <a:t>4</a:t>
            </a:r>
          </a:p>
          <a:p xmlns:a="http://schemas.openxmlformats.org/drawingml/2006/main">
            <a:r>
              <a:rPr lang="en-US" sz="1200" b="1">
                <a:solidFill>
                  <a:srgbClr val="0A0F1A"/>
                </a:solidFill>
              </a:rPr>
              <a:t>Root Cause</a:t>
            </a:r>
          </a:p>
          <a:p xmlns:a="http://schemas.openxmlformats.org/drawingml/2006/main">
            <a:r>
              <a:rPr lang="en-US" sz="1200" b="1">
                <a:solidFill>
                  <a:srgbClr val="0A0F1A"/>
                </a:solidFill>
              </a:rPr>
              <a:t>Ranking</a:t>
            </a:r>
          </a:p>
        </p:txBody>
      </p:sp>
      <p:sp>
        <p:nvSpPr>
          <p:cNvPr id="100078" name="DA4"/>
          <p:cNvSpPr txBox="1"/>
          <p:nvPr/>
        </p:nvSpPr>
        <p:spPr>
          <a:xfrm xmlns:a="http://schemas.openxmlformats.org/drawingml/2006/main">
            <a:off x="8424000" y="2304000"/>
            <a:ext cx="288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00D2B4"/>
                </a:solidFill>
              </a:rPr>
              <a:t>→</a:t>
            </a:r>
          </a:p>
        </p:txBody>
      </p:sp>
      <p:sp>
        <p:nvSpPr>
          <p:cNvPr id="100079" name="S5"/>
          <p:cNvSpPr txBox="1"/>
          <p:nvPr/>
        </p:nvSpPr>
        <p:spPr>
          <a:xfrm xmlns:a="http://schemas.openxmlformats.org/drawingml/2006/main">
            <a:off x="8784000" y="1980000"/>
            <a:ext cx="1620000" cy="8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D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FFFFFF"/>
                </a:solidFill>
              </a:rPr>
              <a:t>5</a:t>
            </a:r>
          </a:p>
          <a:p xmlns:a="http://schemas.openxmlformats.org/drawingml/2006/main">
            <a:r>
              <a:rPr lang="en-US" sz="1200" b="1">
                <a:solidFill>
                  <a:srgbClr val="FFFFFF"/>
                </a:solidFill>
              </a:rPr>
              <a:t>Playbook</a:t>
            </a:r>
          </a:p>
          <a:p xmlns:a="http://schemas.openxmlformats.org/drawingml/2006/main">
            <a:r>
              <a:rPr lang="en-US" sz="1200" b="1">
                <a:solidFill>
                  <a:srgbClr val="FFFFFF"/>
                </a:solidFill>
              </a:rPr>
              <a:t>Dispatch</a:t>
            </a:r>
          </a:p>
        </p:txBody>
      </p:sp>
      <p:sp>
        <p:nvSpPr>
          <p:cNvPr id="100080" name="DA5"/>
          <p:cNvSpPr txBox="1"/>
          <p:nvPr/>
        </p:nvSpPr>
        <p:spPr>
          <a:xfrm xmlns:a="http://schemas.openxmlformats.org/drawingml/2006/main">
            <a:off x="10476000" y="2304000"/>
            <a:ext cx="288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00D2B4"/>
                </a:solidFill>
              </a:rPr>
              <a:t>→</a:t>
            </a:r>
          </a:p>
        </p:txBody>
      </p:sp>
      <p:sp>
        <p:nvSpPr>
          <p:cNvPr id="100081" name="S6"/>
          <p:cNvSpPr txBox="1"/>
          <p:nvPr/>
        </p:nvSpPr>
        <p:spPr>
          <a:xfrm xmlns:a="http://schemas.openxmlformats.org/drawingml/2006/main">
            <a:off x="10800000" y="1980000"/>
            <a:ext cx="1260000" cy="8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0A0F1A"/>
                </a:solidFill>
              </a:rPr>
              <a:t>6</a:t>
            </a:r>
          </a:p>
          <a:p xmlns:a="http://schemas.openxmlformats.org/drawingml/2006/main">
            <a:r>
              <a:rPr lang="en-US" sz="1100" b="1">
                <a:solidFill>
                  <a:srgbClr val="0A0F1A"/>
                </a:solidFill>
              </a:rPr>
              <a:t>IBM Bob</a:t>
            </a:r>
          </a:p>
          <a:p xmlns:a="http://schemas.openxmlformats.org/drawingml/2006/main">
            <a:r>
              <a:rPr lang="en-US" sz="1100" b="1">
                <a:solidFill>
                  <a:srgbClr val="0A0F1A"/>
                </a:solidFill>
              </a:rPr>
              <a:t>Orchestration</a:t>
            </a:r>
          </a:p>
        </p:txBody>
      </p:sp>
      <p:sp>
        <p:nvSpPr>
          <p:cNvPr id="100082" name="HighlightLabel"/>
          <p:cNvSpPr txBox="1"/>
          <p:nvPr/>
        </p:nvSpPr>
        <p:spPr>
          <a:xfrm xmlns:a="http://schemas.openxmlformats.org/drawingml/2006/main">
            <a:off x="6732000" y="2934000"/>
            <a:ext cx="3600000" cy="19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F59E0B"/>
                </a:solidFill>
              </a:rPr>
              <a:t>KEY MOMENT  →  Case 6c</a:t>
            </a:r>
          </a:p>
        </p:txBody>
      </p:sp>
      <p:sp>
        <p:nvSpPr>
          <p:cNvPr id="100083" name="Highlight"/>
          <p:cNvSpPr txBox="1"/>
          <p:nvPr/>
        </p:nvSpPr>
        <p:spPr>
          <a:xfrm xmlns:a="http://schemas.openxmlformats.org/drawingml/2006/main">
            <a:off x="576000" y="3168000"/>
            <a:ext cx="108000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350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F59E0B"/>
                </a:solidFill>
              </a:rPr>
              <a:t>Near-full wafer, all process sensors quiet — system says  TEST EQUIPMENT ARTIFACT  not a wafer defect</a:t>
            </a:r>
          </a:p>
        </p:txBody>
      </p:sp>
      <p:sp>
        <p:nvSpPr>
          <p:cNvPr id="100084" name="MetricRow"/>
          <p:cNvSpPr txBox="1"/>
          <p:nvPr/>
        </p:nvSpPr>
        <p:spPr>
          <a:xfrm xmlns:a="http://schemas.openxmlformats.org/drawingml/2006/main">
            <a:off x="576000" y="3780000"/>
            <a:ext cx="1080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4D5B70"/>
                </a:solidFill>
              </a:rPr>
              <a:t>WaferCNN  F1=0.92     ·     IF recall=0.29/prec=0.19     ·     17/18 fixtures pass     ·     14 MCP tools     ·     2 interaction surfaces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OfficeCLI/1.0.144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2026-09-19T08:21:26Z</dcterms:created>
  <cp:lastModifiedBy>OfficeCLI</cp:lastModifiedBy>
  <dcterms:modified xsi:type="dcterms:W3CDTF">2026-09-19T08:21:26Z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1.0.144</vt:lpwstr>
  </op:property>
  <op:property fmtid="{D5CDD505-2E9C-101B-9397-08002B2CF9AE}" pid="3" name="OfficeCLI.LastModified">
    <vt:lpwstr xmlns:vt="http://schemas.openxmlformats.org/officeDocument/2006/docPropsVTypes">2026-09-19T08:22:44Z</vt:lpwstr>
  </op:property>
</op:Properties>
</file>