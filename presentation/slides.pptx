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Keep it to one breath — the demo is the evidence, not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bullet is the half of the brief most teams skip because it is harder to demo. Flag it now — we come back to it on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prior art rather than letting a fab-side judge catch it. Naming Virtual Metrology and SEMI E133 reads as fluency. Then re-aim at what the IRDS practitioner survey actually names as the blocker: trust, model maintenance, and the absence of a prediction-quality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Bob decides which tools to call and in what order. This is not a fixed pipeline with a chat box bolted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3c asserts a confidence CEILING — a confident answer fails the test even when the named cause is right. That is the clearest way to say we test for honesty, not just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Bob→rank_root_causes edge. An earlier revision of our own diagram had the server reading its own tools; we caught it and corrected it, because it quietly demotes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diagnosis from relabeled anomaly detection. A system tuned for confident output gets this backwards and scraps good material. Do not rush it — it is the strongest 45 seconds in the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architecture diagram here, not a logo. Say the direction out loud: Bob to MCP to our server to Granite. It shows we understand the stack rather than listing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limits deliberately. The entire value proposition is honest, evidence-cited reasoning — a pitch that overclaims contradicts the product. Call pipeline_status live if a judge asks how much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325880"/>
            <a:ext cx="4206240" cy="4206240"/>
          </a:xfrm>
          <a:prstGeom prst="ellipse">
            <a:avLst/>
          </a:prstGeom>
          <a:solidFill>
            <a:srgbClr val="142B3D"/>
          </a:solidFill>
          <a:ln w="15875">
            <a:solidFill>
              <a:srgbClr val="2E6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91993" y="3334573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7746" y="3471777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5931" y="2978857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30435" y="3778949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83916" y="2969206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01105" y="2942131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38627" y="3185599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37096" y="3672883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60686" y="3300010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45247" y="3046245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52344" y="3079715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9775" y="3575166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82692" y="3119191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31704" y="3029199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92476" y="3013214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15512" y="3496713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88729" y="3143446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87429" y="3498294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3585" y="3420592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18635" y="3190232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95515" y="2748580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44034" y="3400631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54432" y="3207079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57969" y="3395892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03372" y="3314363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18670" y="3507644"/>
            <a:ext cx="189281" cy="189281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187452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YieldGuard</a:t>
            </a:r>
            <a:endParaRPr lang="en-US" sz="6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2971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 Yield Root Cause &amp; Defect Pattern Analyser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3566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root causes that cite their evidence — and admit when they don't know.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029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DuckDuckGo   ·   Track: AI   ·   IBM Bob AI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1% yield drop costs tens of millions a month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cause takes weeks to find by hand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3nm, one point of yield is tens of millions of dollars per month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8986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5292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hides across thousands of sensors, hundreds of steps, three disconnected systems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922776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77056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correlate it manually — days to weeks, while the line keeps running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946904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01184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flags the lots that are about to fail; you only look after test comes back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58200" y="1828800"/>
            <a:ext cx="3063240" cy="3749040"/>
          </a:xfrm>
          <a:prstGeom prst="round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41080" y="2057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377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2461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delay is wafers still running through a process nobody has fixed yet.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464040" y="443484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340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654" y="491527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93653" y="5116544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01583" y="458754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56738" y="525992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54914" y="458180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99928" y="4584327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34980" y="4711751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76365" y="5185730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10622" y="4815610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9388" y="4631847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03618" y="4724532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76678" y="514123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76952" y="474072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1368" y="4645041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11389" y="4688504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62224" y="5103674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80154" y="4692372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86232" y="5117222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22959" y="5021930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56309" y="4785291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89196" y="4494643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65161" y="5000357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44600" y="4795119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69246" y="5009342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33477" y="4857719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68171" y="511379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21402" y="454139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0964" y="4897982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44451" y="5049849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50202" y="5136873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80699" y="5201743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79478" y="477157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99211" y="4745326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79436" y="4641550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728238" y="467208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68802" y="4903481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09099" y="4809422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885455" y="4696082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15242" y="4776043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06984" y="516277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61851" y="450772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58220" y="5178379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199271" y="5050581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16268" y="5018960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156571" y="491002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828507" y="4788090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08389" y="500795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25965" y="5246106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263917" y="463172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268162" y="463033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960890" y="467816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69380" y="492997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60324" y="4923411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82672" y="4769287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26685" y="459898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59824" y="471109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106266" y="476695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43697" y="5219814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177329" y="5129480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76742" y="4923198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60834" y="4585664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70010" y="497161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13186" y="5327384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02184" y="4766394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22536" y="5127651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031110" y="5243916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20080" y="5043365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27695" y="4550861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862446" y="4916069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278140" y="5192354"/>
            <a:ext cx="45263" cy="45263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isn't already solved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field — and we're aiming at the blocker it actually reports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platforms surface correlations well — and stop there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Pre-run prediction is mature: Virtual Metrology, SEMI E133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Tignis and INFICON already ship it in production fabs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069080"/>
            <a:ext cx="525780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6344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mile: correlation → ranked, cited hypothesis → 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fusion — map, sensors and route reasoned together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predictor combined with an agentic layer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874520"/>
            <a:ext cx="5166360" cy="4160520"/>
          </a:xfrm>
          <a:prstGeom prst="roundRect">
            <a:avLst>
              <a:gd name="adj" fmla="val 879"/>
            </a:avLst>
          </a:prstGeom>
          <a:solidFill>
            <a:srgbClr val="0E1C2B"/>
          </a:solidFill>
          <a:ln w="12700">
            <a:solidFill>
              <a:srgbClr val="0E1C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not accuracy.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trust.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1546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published rare-class model on fab sensor data: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0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70916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flagged lots is a false alarm. The binding constraint is an engineer's triage time — so a flag they can't verify is a flag they learn to ignore.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engineer asks Bob a question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gathers the evidence and answers with citations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42900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24028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40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770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Wafer-map defect pattern from WM-811K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24028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240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770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anomaly across SECOM's 590 features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965960"/>
            <a:ext cx="342900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8472" y="224028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847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240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2770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cases and live equipment telemetry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931920"/>
            <a:ext cx="342900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832" y="420624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832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4736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— every one citing a named source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42900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20624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5152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4736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corrective actions, prioritised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3931920"/>
            <a:ext cx="342900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48472" y="420624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48472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4736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lots flagged before they run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that make it non-obvious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testable, and the eval suite asserts on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397764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171700"/>
            <a:ext cx="1234440" cy="1234440"/>
          </a:xfrm>
          <a:prstGeom prst="ellipse">
            <a:avLst/>
          </a:prstGeom>
          <a:solidFill>
            <a:srgbClr val="F4F7F9"/>
          </a:solidFill>
          <a:ln w="15875">
            <a:solidFill>
              <a:srgbClr val="1B8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0471" y="2554376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6021" y="2584929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1571" y="2615481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7121" y="2646034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2670" y="2676586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8220" y="2707138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73770" y="2737691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29320" y="2768243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84870" y="2798796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0419" y="2829348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5969" y="2859900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1519" y="2890453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7069" y="2921005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62619" y="2951557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18168" y="2982110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3718" y="3012662"/>
            <a:ext cx="55550" cy="5555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35844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signal is evidence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4224528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process sensors on a scratch pattern point toward mechanical handling. We cite "no deviation" as a positive finding, not a gap.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1874520"/>
            <a:ext cx="3429000" cy="397764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2171700"/>
            <a:ext cx="1234440" cy="1234440"/>
          </a:xfrm>
          <a:prstGeom prst="ellipse">
            <a:avLst/>
          </a:prstGeom>
          <a:solidFill>
            <a:srgbClr val="F4F7F9"/>
          </a:solidFill>
          <a:ln w="15875">
            <a:solidFill>
              <a:srgbClr val="E091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8881" y="276132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13652" y="3008336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3385" y="2359110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5620" y="3184304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8836" y="235206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8627" y="2355161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87099" y="2511546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46981" y="3093247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4478" y="263900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22508" y="2413481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6791" y="2527231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1002" y="3038640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84065" y="254710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14484" y="2429673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26329" y="248301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2353" y="2992541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42540" y="2487762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9999" y="3009168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04164" y="2892220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58730" y="260179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08183" y="224509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46866" y="2865743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07997" y="2613861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60971" y="2876770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85255" y="2690688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59652" y="3004967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02253" y="2302472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0806" y="2740101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30541" y="2926483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37599" y="3033286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75027" y="311289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73529" y="258496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88656" y="2552751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64385" y="2425390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10642" y="2462868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14972" y="2746851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791" y="2631414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03591" y="249231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94693" y="259044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07286" y="3065078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20077" y="2261153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61076" y="308422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88729" y="2927382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64134" y="288857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36325" y="275488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33700" y="2605234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63556" y="2875068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21490" y="316734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68067" y="2413332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73277" y="2411626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96171" y="2470326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52044" y="277936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95476" y="277130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77449" y="2582158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54192" y="2373154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72135" y="2510744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74586" y="2579300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06889" y="3135077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61800" y="3024213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06534" y="2771048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27919" y="2356803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598273" y="283046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83079" y="3267095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55940" y="2578607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9099" y="3021968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82350" y="3164657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36994" y="2918526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32704" y="231408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975353" y="2762299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85522" y="3101376"/>
            <a:ext cx="55550" cy="55550"/>
          </a:xfrm>
          <a:prstGeom prst="ellipse">
            <a:avLst/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645152" y="35844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honestly uncertain</a:t>
            </a:r>
            <a:endParaRPr lang="en-US" sz="1600" dirty="0"/>
          </a:p>
        </p:txBody>
      </p:sp>
      <p:sp>
        <p:nvSpPr>
          <p:cNvPr id="97" name="Text 95"/>
          <p:cNvSpPr txBox="1"/>
          <p:nvPr/>
        </p:nvSpPr>
        <p:spPr>
          <a:xfrm>
            <a:off x="4645152" y="4224528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Measurement-artifact hypotheses are confidence-capped. Competing precedents cap it further — and say so in the evidence.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092440" y="1874520"/>
            <a:ext cx="3429000" cy="397764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9189720" y="2171700"/>
            <a:ext cx="1234440" cy="1234440"/>
          </a:xfrm>
          <a:prstGeom prst="ellipse">
            <a:avLst/>
          </a:prstGeom>
          <a:solidFill>
            <a:srgbClr val="F4F7F9"/>
          </a:solidFill>
          <a:ln w="15875">
            <a:solidFill>
              <a:srgbClr val="1740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272944" y="2761145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306623" y="2873256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243302" y="2967785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187055" y="3057483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133674" y="3154847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039219" y="3211540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36793" y="3246213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834683" y="3289145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723680" y="3289298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18324" y="3256256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515405" y="3218055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427780" y="3151451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347088" y="3075116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317178" y="2966879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278114" y="2867692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250435" y="2761194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262454" y="2651368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325626" y="2559274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352337" y="2451109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433260" y="2377069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509446" y="2294112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614194" y="2253641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6850" y="2264049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33353" y="2244872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945760" y="2248159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042981" y="2304040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130773" y="2370519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201654" y="2454081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271353" y="2541907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306002" y="2649064"/>
            <a:ext cx="55550" cy="55550"/>
          </a:xfrm>
          <a:prstGeom prst="ellipse">
            <a:avLst/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348472" y="35844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before the lot runs</a:t>
            </a:r>
            <a:endParaRPr lang="en-US" sz="1600" dirty="0"/>
          </a:p>
        </p:txBody>
      </p:sp>
      <p:sp>
        <p:nvSpPr>
          <p:cNvPr id="131" name="Text 129"/>
          <p:cNvSpPr txBox="1"/>
          <p:nvPr/>
        </p:nvSpPr>
        <p:spPr>
          <a:xfrm>
            <a:off x="8348472" y="4224528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wafer map, no test data. Two of four evidence inputs are null by construction, so the reasoning must change shape.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 orchestrates. The server exposes.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MCP tools over stdio — Bob chooses and chains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5528" y="23317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53512" y="214884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17405C"/>
          </a:solidFill>
          <a:ln w="12700">
            <a:solidFill>
              <a:srgbClr val="1740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23317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· ORCHESTRATOR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21224" y="214884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30952" y="23317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tools · stdio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232904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88936" y="214884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98664" y="23317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98664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Isolation Forest · cases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500616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56648" y="214884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6376" y="23317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866376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reasoning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931920"/>
            <a:ext cx="10835640" cy="1874520"/>
          </a:xfrm>
          <a:prstGeom prst="roundRect">
            <a:avLst>
              <a:gd name="adj" fmla="val 1951"/>
            </a:avLst>
          </a:prstGeom>
          <a:solidFill>
            <a:srgbClr val="0E1C2B"/>
          </a:solidFill>
          <a:ln w="12700">
            <a:solidFill>
              <a:srgbClr val="0E1C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16052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rank_root_causes takes evidence as ARGUMENTS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6177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calls classify, score, retrieve and query_telemetry, then passes all four results in. The server never chains its own tools — if it fetched its own inputs, Bob would be a chat skin over a fixed pipeline. That distinction is visible in the code, and it is the one a judge should check.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that proves it reasons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6c — Near-full failure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15400" y="1280160"/>
            <a:ext cx="2468880" cy="2468880"/>
          </a:xfrm>
          <a:prstGeom prst="ellipse">
            <a:avLst/>
          </a:prstGeom>
          <a:solidFill>
            <a:srgbClr val="142B3D"/>
          </a:solidFill>
          <a:ln w="15875">
            <a:solidFill>
              <a:srgbClr val="B340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60363" y="2459417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9905" y="2953433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9370" y="1654981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33841" y="330536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20272" y="164089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9853" y="1647082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16798" y="1959851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36563" y="3123253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11557" y="221477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7617" y="1763722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6182" y="1991223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4603" y="301404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10729" y="203096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71568" y="1796107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95258" y="190279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7306" y="2921842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7680" y="1912284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42598" y="2955097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0927" y="272120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60061" y="214035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58966" y="142695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36333" y="2668246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58594" y="2164482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64542" y="2690301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13110" y="2318136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61904" y="2946694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47106" y="1541704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44213" y="2416963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3682" y="2789727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17798" y="3003332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54" y="316255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89658" y="210669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9911" y="2042262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71371" y="178753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63885" y="1862497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72543" y="2430461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181" y="219958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49781" y="192139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31986" y="211765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57172" y="3066916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82754" y="1459066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64751" y="310521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20057" y="2791524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70868" y="271391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15250" y="244653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10001" y="214722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69712" y="2686896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85581" y="3271450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878734" y="1763424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89153" y="1760012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34941" y="1877411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46688" y="249549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33552" y="247937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97498" y="2101075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50984" y="168306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86870" y="195824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91773" y="209535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56377" y="3206915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66200" y="2985186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55668" y="2478857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98439" y="1650366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139146" y="259769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08759" y="3470949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54480" y="2093974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40799" y="2980696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07300" y="3266073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16588" y="2773813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08007" y="156493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93305" y="2461358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13645" y="3139512"/>
            <a:ext cx="111100" cy="1111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68680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die fails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858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ANSWER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685800" y="219456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catastrophic process excursion. Scrap the lot.</a:t>
            </a:r>
            <a:endParaRPr lang="en-US" sz="1500" dirty="0"/>
          </a:p>
        </p:txBody>
      </p:sp>
      <p:sp>
        <p:nvSpPr>
          <p:cNvPr id="78" name="Text 76"/>
          <p:cNvSpPr txBox="1"/>
          <p:nvPr/>
        </p:nvSpPr>
        <p:spPr>
          <a:xfrm>
            <a:off x="68580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SAYS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685800" y="31821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anomaly sits on the test head. Process sensors are quiet.</a:t>
            </a:r>
            <a:endParaRPr lang="en-US" sz="1500" dirty="0"/>
          </a:p>
        </p:txBody>
      </p:sp>
      <p:sp>
        <p:nvSpPr>
          <p:cNvPr id="80" name="Text 78"/>
          <p:cNvSpPr txBox="1"/>
          <p:nvPr/>
        </p:nvSpPr>
        <p:spPr>
          <a:xfrm>
            <a:off x="68580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HYPOTHESIS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685800" y="41696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"Possible test-equipment measurement artifact — the wafers may be fine."</a:t>
            </a:r>
            <a:endParaRPr lang="en-US" sz="1500" dirty="0"/>
          </a:p>
        </p:txBody>
      </p:sp>
      <p:sp>
        <p:nvSpPr>
          <p:cNvPr id="82" name="Text 80"/>
          <p:cNvSpPr txBox="1"/>
          <p:nvPr/>
        </p:nvSpPr>
        <p:spPr>
          <a:xfrm>
            <a:off x="685800" y="4882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685800" y="515721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and retest. Do not scrap.</a:t>
            </a:r>
            <a:endParaRPr lang="en-US" sz="1500" dirty="0"/>
          </a:p>
        </p:txBody>
      </p:sp>
      <p:sp>
        <p:nvSpPr>
          <p:cNvPr id="84" name="Text 82"/>
          <p:cNvSpPr txBox="1"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capped at 0.70 — a claim that the measurement is wrong is a claim the data is untrustworthy.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technology integration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load-bearing, not name-dropped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694944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482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surface AND orchestrator. .bob/mcp.json registers our MCP server; .bob/skills/yieldguard teaches Bob both workflows.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694944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337413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2160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tools over stdio with schemas Bob can read. Verified with a real handshake in test_stdio.py.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694944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4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47000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· Granite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04748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behind rank_root_causes — called from inside our MCP server, not from Bob's prompt.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0" y="1920240"/>
            <a:ext cx="3520440" cy="3886200"/>
          </a:xfrm>
          <a:prstGeom prst="roundRect">
            <a:avLst>
              <a:gd name="adj" fmla="val 1039"/>
            </a:avLst>
          </a:prstGeom>
          <a:solidFill>
            <a:srgbClr val="0E1C2B"/>
          </a:solidFill>
          <a:ln w="12700">
            <a:solidFill>
              <a:srgbClr val="0E1C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2194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→ MCP → our server → Granite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063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routes across its own models. watsonx.ai is something our server calls — that direction matters, and it is why the reasoning lives behind a tool rather than in a prompt.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09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8 tools real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5166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pipeline_status reports it honestly, every run.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— and what we won't claim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659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in minutes with a cited evidence trail, not days of manual correlation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Pre-run triage on lots not yet committed to the line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verdict feeds back into the case store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by design — never a closed-loop control action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WON'T CLAIM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9659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SECOM and WM-811K are unrelated datasets — paired cases are constructed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 measures recall 0.286 / precision 0.194 on held-out data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wafer classifier is untrained — we report no macro-F1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a relative ranking, not a calibrated probability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617720"/>
            <a:ext cx="10789920" cy="1463040"/>
          </a:xfrm>
          <a:prstGeom prst="roundRect">
            <a:avLst>
              <a:gd name="adj" fmla="val 2500"/>
            </a:avLst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920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whose whole value is honest, evidence-cited reasoning cannot begin by overclaiming its own provenance.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YieldGuard</dc:title>
  <dc:subject>PptxGenJS Presentation</dc:subject>
  <dc:creator>Team DuckDuckGo</dc:creator>
  <cp:lastModifiedBy>Team DuckDuckGo</cp:lastModifiedBy>
  <cp:revision>1</cp:revision>
  <dcterms:created xsi:type="dcterms:W3CDTF">2026-09-15T09:42:56Z</dcterms:created>
  <dcterms:modified xsi:type="dcterms:W3CDTF">2026-09-15T09:42:56Z</dcterms:modified>
</cp:coreProperties>
</file>